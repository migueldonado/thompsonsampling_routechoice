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36159-8EF6-4979-97BB-4ED0BC4EEA4A}" v="178" dt="2026-05-17T19:15:07.828"/>
    <p1510:client id="{21A3BE3A-7B44-4517-A9A2-6C288F68517B}" v="1359" dt="2026-05-18T10:23:03.641"/>
    <p1510:client id="{6B08F097-4B8A-49B1-AC90-CBEE74616B08}" v="257" dt="2026-05-18T11:31:54.499"/>
    <p1510:client id="{7E1F7376-3AC8-4D29-8128-172A0403E055}" v="4771" dt="2026-05-17T21:58:10.364"/>
    <p1510:client id="{A552999F-A24E-4BB6-BCC5-F7C0DE258AB7}" v="75" dt="2026-05-18T10:39:12.065"/>
    <p1510:client id="{CD721EEA-8100-4B78-B4BD-0CA20BC49090}" v="5" dt="2026-05-18T11:15:07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962437"/>
            <a:ext cx="9144000" cy="2387600"/>
          </a:xfrm>
        </p:spPr>
        <p:txBody>
          <a:bodyPr>
            <a:normAutofit/>
          </a:bodyPr>
          <a:lstStyle/>
          <a:p>
            <a:r>
              <a:rPr lang="en-GB" u="sng"/>
              <a:t>Bayesian Analysis</a:t>
            </a:r>
            <a:br>
              <a:rPr lang="es-ES" u="sng"/>
            </a:br>
            <a:r>
              <a:rPr lang="es-ES" u="sng"/>
              <a:t>Final Project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724334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4000" dirty="0">
                <a:latin typeface="Aptos Display"/>
              </a:rPr>
              <a:t>Multi-</a:t>
            </a:r>
            <a:r>
              <a:rPr lang="es-ES" sz="4000" err="1">
                <a:latin typeface="Aptos Display"/>
              </a:rPr>
              <a:t>Armed</a:t>
            </a:r>
            <a:r>
              <a:rPr lang="es-ES" sz="4000" dirty="0">
                <a:latin typeface="Aptos Display"/>
              </a:rPr>
              <a:t> </a:t>
            </a:r>
            <a:r>
              <a:rPr lang="es-ES" sz="4000" err="1">
                <a:latin typeface="Aptos Display"/>
              </a:rPr>
              <a:t>Bandit</a:t>
            </a:r>
            <a:r>
              <a:rPr lang="es-ES" sz="4000" dirty="0">
                <a:latin typeface="Aptos Display"/>
              </a:rPr>
              <a:t> </a:t>
            </a:r>
            <a:r>
              <a:rPr lang="es-ES" sz="4000" err="1">
                <a:latin typeface="Aptos Display"/>
              </a:rPr>
              <a:t>Problems</a:t>
            </a:r>
            <a:r>
              <a:rPr lang="es-ES" sz="4000" dirty="0">
                <a:latin typeface="Aptos Display"/>
              </a:rPr>
              <a:t>, Thompson </a:t>
            </a:r>
            <a:r>
              <a:rPr lang="es-ES" sz="4000" err="1">
                <a:latin typeface="Aptos Display"/>
              </a:rPr>
              <a:t>Sampling</a:t>
            </a:r>
            <a:r>
              <a:rPr lang="es-ES" sz="4000">
                <a:latin typeface="Aptos Display"/>
              </a:rPr>
              <a:t> and Route Choice</a:t>
            </a:r>
            <a:endParaRPr lang="es-ES" sz="4000" dirty="0" err="1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F386D-987C-565D-C880-A362E51E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793" y="176977"/>
            <a:ext cx="10515600" cy="1325563"/>
          </a:xfrm>
        </p:spPr>
        <p:txBody>
          <a:bodyPr/>
          <a:lstStyle/>
          <a:p>
            <a:r>
              <a:rPr lang="es-ES" dirty="0" err="1"/>
              <a:t>Introduction</a:t>
            </a:r>
            <a:r>
              <a:rPr lang="es-ES" dirty="0"/>
              <a:t>: Multi-</a:t>
            </a:r>
            <a:r>
              <a:rPr lang="es-ES" dirty="0" err="1"/>
              <a:t>Armed</a:t>
            </a:r>
            <a:r>
              <a:rPr lang="es-ES" dirty="0"/>
              <a:t> </a:t>
            </a:r>
            <a:r>
              <a:rPr lang="es-ES" dirty="0" err="1"/>
              <a:t>Bandit</a:t>
            </a:r>
            <a:r>
              <a:rPr lang="es-ES" dirty="0"/>
              <a:t> </a:t>
            </a:r>
            <a:r>
              <a:rPr lang="es-ES" dirty="0" err="1"/>
              <a:t>Problems</a:t>
            </a:r>
            <a:endParaRPr lang="es-ES" dirty="0"/>
          </a:p>
        </p:txBody>
      </p:sp>
      <p:pic>
        <p:nvPicPr>
          <p:cNvPr id="4" name="Marcador de contenido 3" descr="Hombre con relleno sólido">
            <a:extLst>
              <a:ext uri="{FF2B5EF4-FFF2-40B4-BE49-F238E27FC236}">
                <a16:creationId xmlns:a16="http://schemas.microsoft.com/office/drawing/2014/main" id="{DC906290-CFB1-A7F6-4CAB-B040EF2CC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560" y="1705304"/>
            <a:ext cx="989526" cy="102172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118B33B-8DF4-E7F9-8F4B-01C2C9F67F0F}"/>
              </a:ext>
            </a:extLst>
          </p:cNvPr>
          <p:cNvSpPr txBox="1"/>
          <p:nvPr/>
        </p:nvSpPr>
        <p:spPr>
          <a:xfrm>
            <a:off x="763325" y="1335851"/>
            <a:ext cx="993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Student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02B27BB-0488-4572-83A3-0007655B7F1E}"/>
              </a:ext>
            </a:extLst>
          </p:cNvPr>
          <p:cNvSpPr/>
          <p:nvPr/>
        </p:nvSpPr>
        <p:spPr>
          <a:xfrm>
            <a:off x="376827" y="2992217"/>
            <a:ext cx="1668554" cy="10797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err="1"/>
              <a:t>Bayesian</a:t>
            </a:r>
            <a:endParaRPr lang="es-ES" sz="160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48BADA7-AC59-6BE2-8E24-4D8DD990AA45}"/>
              </a:ext>
            </a:extLst>
          </p:cNvPr>
          <p:cNvSpPr/>
          <p:nvPr/>
        </p:nvSpPr>
        <p:spPr>
          <a:xfrm>
            <a:off x="376826" y="4467855"/>
            <a:ext cx="1668556" cy="10797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err="1"/>
              <a:t>Frequentist</a:t>
            </a:r>
            <a:endParaRPr lang="es-ES" sz="1400"/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894A6DE-89AD-2942-1D8C-ACDA77DEB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420" y="2498135"/>
            <a:ext cx="2384678" cy="1580434"/>
          </a:xfrm>
          <a:prstGeom prst="rect">
            <a:avLst/>
          </a:prstGeom>
        </p:spPr>
      </p:pic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C505112-61AE-B2E3-20C4-2379EF869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554" y="4257851"/>
            <a:ext cx="2458744" cy="158785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C19DC1E-40C2-EB13-138B-C105219F661B}"/>
              </a:ext>
            </a:extLst>
          </p:cNvPr>
          <p:cNvSpPr txBox="1"/>
          <p:nvPr/>
        </p:nvSpPr>
        <p:spPr>
          <a:xfrm>
            <a:off x="373753" y="618549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err="1"/>
              <a:t>Exploration</a:t>
            </a:r>
            <a:r>
              <a:rPr lang="es-ES"/>
              <a:t> vs </a:t>
            </a:r>
            <a:r>
              <a:rPr lang="es-ES" err="1"/>
              <a:t>Explotation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80D050-7846-134E-67DD-8F2635420F01}"/>
              </a:ext>
            </a:extLst>
          </p:cNvPr>
          <p:cNvSpPr txBox="1"/>
          <p:nvPr/>
        </p:nvSpPr>
        <p:spPr>
          <a:xfrm>
            <a:off x="7713311" y="1610320"/>
            <a:ext cx="29972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u="sng" dirty="0" err="1"/>
              <a:t>Based</a:t>
            </a:r>
            <a:r>
              <a:rPr lang="es-ES" u="sng" dirty="0"/>
              <a:t> </a:t>
            </a:r>
            <a:r>
              <a:rPr lang="es-ES" u="sng" dirty="0" err="1"/>
              <a:t>on</a:t>
            </a:r>
            <a:r>
              <a:rPr lang="es-ES" u="sng" dirty="0"/>
              <a:t> </a:t>
            </a:r>
            <a:r>
              <a:rPr lang="es-ES" u="sng" dirty="0" err="1"/>
              <a:t>how</a:t>
            </a:r>
            <a:r>
              <a:rPr lang="es-ES" u="sng" dirty="0"/>
              <a:t> </a:t>
            </a:r>
            <a:r>
              <a:rPr lang="es-ES" u="sng" dirty="0" err="1"/>
              <a:t>we</a:t>
            </a:r>
            <a:r>
              <a:rPr lang="es-ES" u="sng" dirty="0"/>
              <a:t> do </a:t>
            </a:r>
            <a:r>
              <a:rPr lang="es-ES" u="sng" dirty="0" err="1"/>
              <a:t>exploration</a:t>
            </a:r>
            <a:r>
              <a:rPr lang="es-ES" u="sng" dirty="0"/>
              <a:t>, </a:t>
            </a:r>
            <a:r>
              <a:rPr lang="es-ES" u="sng" dirty="0" err="1"/>
              <a:t>there</a:t>
            </a:r>
            <a:r>
              <a:rPr lang="es-ES" u="sng" dirty="0"/>
              <a:t> are </a:t>
            </a:r>
            <a:r>
              <a:rPr lang="es-ES" u="sng" dirty="0" err="1"/>
              <a:t>several</a:t>
            </a:r>
            <a:r>
              <a:rPr lang="es-ES" u="sng" dirty="0"/>
              <a:t> </a:t>
            </a:r>
            <a:r>
              <a:rPr lang="es-ES" u="sng" dirty="0" err="1"/>
              <a:t>strategies</a:t>
            </a:r>
            <a:r>
              <a:rPr lang="es-ES" u="sng" dirty="0"/>
              <a:t>:</a:t>
            </a:r>
          </a:p>
          <a:p>
            <a:endParaRPr lang="es-ES"/>
          </a:p>
          <a:p>
            <a:pPr marL="342900" indent="-342900">
              <a:buAutoNum type="arabicPeriod"/>
            </a:pPr>
            <a:r>
              <a:rPr lang="es-ES" dirty="0"/>
              <a:t>Explore </a:t>
            </a:r>
            <a:r>
              <a:rPr lang="es-ES" dirty="0" err="1"/>
              <a:t>only</a:t>
            </a:r>
            <a:endParaRPr lang="es-ES"/>
          </a:p>
          <a:p>
            <a:pPr marL="342900" indent="-342900">
              <a:buAutoNum type="arabicPeriod"/>
            </a:pPr>
            <a:endParaRPr lang="es-ES"/>
          </a:p>
          <a:p>
            <a:pPr marL="342900" indent="-342900">
              <a:buAutoNum type="arabicPeriod"/>
            </a:pPr>
            <a:r>
              <a:rPr lang="es-ES" dirty="0" err="1"/>
              <a:t>Exploit</a:t>
            </a:r>
            <a:r>
              <a:rPr lang="es-ES" dirty="0"/>
              <a:t> </a:t>
            </a:r>
            <a:r>
              <a:rPr lang="es-ES" dirty="0" err="1"/>
              <a:t>only</a:t>
            </a:r>
            <a:endParaRPr lang="es-ES"/>
          </a:p>
          <a:p>
            <a:pPr marL="342900" indent="-342900">
              <a:buAutoNum type="arabicPeriod"/>
            </a:pPr>
            <a:endParaRPr lang="es-ES"/>
          </a:p>
          <a:p>
            <a:pPr marL="342900" indent="-342900">
              <a:buAutoNum type="arabicPeriod"/>
            </a:pPr>
            <a:r>
              <a:rPr lang="es-ES" err="1"/>
              <a:t>Epsilon-greedy</a:t>
            </a:r>
            <a:endParaRPr lang="es-ES"/>
          </a:p>
          <a:p>
            <a:pPr marL="342900" indent="-342900">
              <a:buAutoNum type="arabicPeriod"/>
            </a:pPr>
            <a:endParaRPr lang="es-ES"/>
          </a:p>
          <a:p>
            <a:pPr marL="342900" indent="-342900">
              <a:buAutoNum type="arabicPeriod"/>
            </a:pPr>
            <a:r>
              <a:rPr lang="es-ES" b="1"/>
              <a:t>Thompson Sampling</a:t>
            </a:r>
          </a:p>
          <a:p>
            <a:pPr marL="342900" indent="-342900">
              <a:buAutoNum type="arabicPeriod"/>
            </a:pPr>
            <a:endParaRPr lang="es-ES"/>
          </a:p>
          <a:p>
            <a:pPr marL="342900" indent="-342900">
              <a:buAutoNum type="arabicPeriod"/>
            </a:pPr>
            <a:r>
              <a:rPr lang="es-ES"/>
              <a:t>...</a:t>
            </a:r>
          </a:p>
          <a:p>
            <a:pPr marL="342900" indent="-342900">
              <a:buAutoNum type="arabicPeriod"/>
            </a:pPr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23E55F-2C72-4AC4-A8F9-258B19FFEE7A}"/>
              </a:ext>
            </a:extLst>
          </p:cNvPr>
          <p:cNvSpPr txBox="1"/>
          <p:nvPr/>
        </p:nvSpPr>
        <p:spPr>
          <a:xfrm>
            <a:off x="7714074" y="5265097"/>
            <a:ext cx="2997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u="sng"/>
              <a:t>How </a:t>
            </a:r>
            <a:r>
              <a:rPr lang="es-ES" u="sng" err="1"/>
              <a:t>to</a:t>
            </a:r>
            <a:r>
              <a:rPr lang="es-ES" u="sng"/>
              <a:t> </a:t>
            </a:r>
            <a:r>
              <a:rPr lang="es-ES" u="sng" err="1"/>
              <a:t>evaluate</a:t>
            </a:r>
            <a:r>
              <a:rPr lang="es-ES" u="sng"/>
              <a:t> a </a:t>
            </a:r>
            <a:r>
              <a:rPr lang="es-ES" u="sng" err="1"/>
              <a:t>strategy</a:t>
            </a:r>
            <a:r>
              <a:rPr lang="es-ES" u="sng"/>
              <a:t>:</a:t>
            </a:r>
            <a:endParaRPr lang="es-ES" u="sng" err="1"/>
          </a:p>
          <a:p>
            <a:endParaRPr lang="es-ES"/>
          </a:p>
          <a:p>
            <a:r>
              <a:rPr lang="es-ES" err="1"/>
              <a:t>Regret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743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8AF8-335A-22E0-CE25-BC7F07AA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8" y="-2908"/>
            <a:ext cx="10515600" cy="1325563"/>
          </a:xfrm>
        </p:spPr>
        <p:txBody>
          <a:bodyPr/>
          <a:lstStyle/>
          <a:p>
            <a:r>
              <a:rPr lang="es-ES" dirty="0" err="1"/>
              <a:t>Introduction</a:t>
            </a:r>
            <a:r>
              <a:rPr lang="es-ES" dirty="0"/>
              <a:t>: Thompson </a:t>
            </a:r>
            <a:r>
              <a:rPr lang="es-ES" dirty="0" err="1"/>
              <a:t>Sampling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0662D4-7FF4-83CD-B3FF-F01C162CDBDD}"/>
              </a:ext>
            </a:extLst>
          </p:cNvPr>
          <p:cNvSpPr txBox="1"/>
          <p:nvPr/>
        </p:nvSpPr>
        <p:spPr>
          <a:xfrm>
            <a:off x="471695" y="1307629"/>
            <a:ext cx="9938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Student</a:t>
            </a:r>
          </a:p>
        </p:txBody>
      </p:sp>
      <p:pic>
        <p:nvPicPr>
          <p:cNvPr id="7" name="Marcador de contenido 3" descr="Hombre con relleno sólido">
            <a:extLst>
              <a:ext uri="{FF2B5EF4-FFF2-40B4-BE49-F238E27FC236}">
                <a16:creationId xmlns:a16="http://schemas.microsoft.com/office/drawing/2014/main" id="{70E15AF4-E750-58BC-240B-84D7E55D3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930" y="1677082"/>
            <a:ext cx="989526" cy="1021723"/>
          </a:xfrm>
          <a:prstGeom prst="rect">
            <a:avLst/>
          </a:prstGeom>
        </p:spPr>
      </p:pic>
      <p:pic>
        <p:nvPicPr>
          <p:cNvPr id="13" name="Imagen 1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4FE38B7-FAF8-2DE1-8B18-B71246E89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420" y="2745777"/>
            <a:ext cx="1867271" cy="1091251"/>
          </a:xfrm>
          <a:prstGeom prst="rect">
            <a:avLst/>
          </a:prstGeom>
        </p:spPr>
      </p:pic>
      <p:pic>
        <p:nvPicPr>
          <p:cNvPr id="15" name="Imagen 1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4090ACA-821A-AFCB-DB60-F385216E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527" y="4346076"/>
            <a:ext cx="1856671" cy="1268003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5C6B6DB-9274-C48B-4796-194407A47095}"/>
              </a:ext>
            </a:extLst>
          </p:cNvPr>
          <p:cNvSpPr txBox="1"/>
          <p:nvPr/>
        </p:nvSpPr>
        <p:spPr>
          <a:xfrm>
            <a:off x="1826308" y="1793382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+mn-lt"/>
                <a:cs typeface="+mn-lt"/>
              </a:rPr>
              <a:t>μ </a:t>
            </a:r>
            <a:r>
              <a:rPr lang="es-ES" err="1">
                <a:ea typeface="+mn-lt"/>
                <a:cs typeface="+mn-lt"/>
              </a:rPr>
              <a:t>unknown</a:t>
            </a:r>
          </a:p>
          <a:p>
            <a:r>
              <a:rPr lang="es-ES">
                <a:ea typeface="+mn-lt"/>
                <a:cs typeface="+mn-lt"/>
              </a:rPr>
              <a:t>σ </a:t>
            </a:r>
            <a:r>
              <a:rPr lang="es-ES" err="1">
                <a:ea typeface="+mn-lt"/>
                <a:cs typeface="+mn-lt"/>
              </a:rPr>
              <a:t>known</a:t>
            </a:r>
            <a:endParaRPr lang="es-ES" err="1"/>
          </a:p>
        </p:txBody>
      </p: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5DE01A4D-5F7C-4088-252B-2F81AF127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662" y="1520933"/>
            <a:ext cx="4895850" cy="60007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2366273-C7A5-EAC4-43EB-56D3693C6DAD}"/>
              </a:ext>
            </a:extLst>
          </p:cNvPr>
          <p:cNvSpPr txBox="1"/>
          <p:nvPr/>
        </p:nvSpPr>
        <p:spPr>
          <a:xfrm>
            <a:off x="4444237" y="124393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u="sng" err="1"/>
              <a:t>Bayesian</a:t>
            </a:r>
            <a:r>
              <a:rPr lang="es-ES" u="sng"/>
              <a:t> </a:t>
            </a:r>
            <a:r>
              <a:rPr lang="es-ES" u="sng" err="1"/>
              <a:t>model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80F0887-9DC1-4F9E-F7F9-4EF3B378A2CA}"/>
              </a:ext>
            </a:extLst>
          </p:cNvPr>
          <p:cNvSpPr txBox="1"/>
          <p:nvPr/>
        </p:nvSpPr>
        <p:spPr>
          <a:xfrm>
            <a:off x="9693315" y="1244320"/>
            <a:ext cx="3749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Posterior</a:t>
            </a:r>
          </a:p>
        </p:txBody>
      </p:sp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4692D702-3D6B-E163-D510-04F833242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3117" y="1608666"/>
            <a:ext cx="1437099" cy="639703"/>
          </a:xfrm>
          <a:prstGeom prst="rect">
            <a:avLst/>
          </a:prstGeom>
        </p:spPr>
      </p:pic>
      <p:pic>
        <p:nvPicPr>
          <p:cNvPr id="19" name="Imagen 18" descr="Diagrama&#10;&#10;El contenido generado por IA puede ser incorrecto.">
            <a:extLst>
              <a:ext uri="{FF2B5EF4-FFF2-40B4-BE49-F238E27FC236}">
                <a16:creationId xmlns:a16="http://schemas.microsoft.com/office/drawing/2014/main" id="{1C82FEF4-5AF9-46B1-76FB-29C1CDA00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0850" y="2393658"/>
            <a:ext cx="6533562" cy="979428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965736A-76C1-22A9-E4B9-9E6D9C4AE871}"/>
              </a:ext>
            </a:extLst>
          </p:cNvPr>
          <p:cNvSpPr txBox="1"/>
          <p:nvPr/>
        </p:nvSpPr>
        <p:spPr>
          <a:xfrm>
            <a:off x="4574288" y="206276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dirty="0" err="1"/>
              <a:t>Algorithm</a:t>
            </a:r>
          </a:p>
        </p:txBody>
      </p:sp>
      <p:pic>
        <p:nvPicPr>
          <p:cNvPr id="21" name="Imagen 2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D795D3AA-693D-61F5-0B06-F284796F28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851" y="3674590"/>
            <a:ext cx="1649709" cy="1155115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DCA1270-DBA0-C0A4-0B6D-D7D5FD7B547B}"/>
              </a:ext>
            </a:extLst>
          </p:cNvPr>
          <p:cNvCxnSpPr/>
          <p:nvPr/>
        </p:nvCxnSpPr>
        <p:spPr>
          <a:xfrm>
            <a:off x="4058025" y="1309536"/>
            <a:ext cx="10297" cy="489121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magen 22" descr="Texto, Carta&#10;&#10;El contenido generado por IA puede ser incorrecto.">
            <a:extLst>
              <a:ext uri="{FF2B5EF4-FFF2-40B4-BE49-F238E27FC236}">
                <a16:creationId xmlns:a16="http://schemas.microsoft.com/office/drawing/2014/main" id="{1CAD66B8-72B3-DA47-8213-7091BFF716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209" y="3835341"/>
            <a:ext cx="1654176" cy="993541"/>
          </a:xfrm>
          <a:prstGeom prst="rect">
            <a:avLst/>
          </a:prstGeom>
        </p:spPr>
      </p:pic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13EAC28E-2309-661D-A0EC-B142948CF4E5}"/>
              </a:ext>
            </a:extLst>
          </p:cNvPr>
          <p:cNvSpPr/>
          <p:nvPr/>
        </p:nvSpPr>
        <p:spPr>
          <a:xfrm>
            <a:off x="6178504" y="4148031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CA8170B-700F-E350-0860-954BC1A12EB3}"/>
              </a:ext>
            </a:extLst>
          </p:cNvPr>
          <p:cNvSpPr txBox="1"/>
          <p:nvPr/>
        </p:nvSpPr>
        <p:spPr>
          <a:xfrm>
            <a:off x="4246934" y="3666345"/>
            <a:ext cx="102164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/>
              <a:t>Posterior </a:t>
            </a:r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FD4EDB0-C126-99D5-CCC0-2A6263E77D72}"/>
              </a:ext>
            </a:extLst>
          </p:cNvPr>
          <p:cNvSpPr txBox="1"/>
          <p:nvPr/>
        </p:nvSpPr>
        <p:spPr>
          <a:xfrm>
            <a:off x="6370848" y="3665837"/>
            <a:ext cx="164253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/>
              <a:t>Posterior </a:t>
            </a:r>
            <a:r>
              <a:rPr lang="es-ES" sz="1600" dirty="0" err="1"/>
              <a:t>draws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E3E493D-0CFA-2114-6E60-D4F7436930B2}"/>
              </a:ext>
            </a:extLst>
          </p:cNvPr>
          <p:cNvSpPr txBox="1"/>
          <p:nvPr/>
        </p:nvSpPr>
        <p:spPr>
          <a:xfrm>
            <a:off x="4191889" y="337878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u="sng"/>
              <a:t>Day 0</a:t>
            </a:r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A150645F-DDD2-D5CC-D22C-74E7B75120CE}"/>
              </a:ext>
            </a:extLst>
          </p:cNvPr>
          <p:cNvSpPr/>
          <p:nvPr/>
        </p:nvSpPr>
        <p:spPr>
          <a:xfrm>
            <a:off x="8050578" y="4148031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0F561E5-4721-C0E6-94B1-3CA6F45ED910}"/>
              </a:ext>
            </a:extLst>
          </p:cNvPr>
          <p:cNvSpPr txBox="1"/>
          <p:nvPr/>
        </p:nvSpPr>
        <p:spPr>
          <a:xfrm>
            <a:off x="8336106" y="3832120"/>
            <a:ext cx="13038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u="sng" dirty="0" err="1"/>
              <a:t>Action</a:t>
            </a:r>
            <a:endParaRPr lang="es-ES" sz="1600" u="sng"/>
          </a:p>
          <a:p>
            <a:pPr algn="ctr"/>
            <a:r>
              <a:rPr lang="es-ES" sz="1600" dirty="0" err="1"/>
              <a:t>Frequentist</a:t>
            </a:r>
            <a:r>
              <a:rPr lang="es-ES" sz="1600" dirty="0"/>
              <a:t> </a:t>
            </a:r>
          </a:p>
          <a:p>
            <a:pPr algn="ctr"/>
            <a:r>
              <a:rPr lang="es-ES" sz="1600" dirty="0" err="1"/>
              <a:t>class</a:t>
            </a:r>
            <a:endParaRPr lang="es-ES" sz="1600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FF60FA3F-0F39-CEB8-3CC2-DE256AC879BA}"/>
              </a:ext>
            </a:extLst>
          </p:cNvPr>
          <p:cNvSpPr/>
          <p:nvPr/>
        </p:nvSpPr>
        <p:spPr>
          <a:xfrm>
            <a:off x="9546356" y="4148031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26839F7-8D3E-F13E-C129-B590CF21A7C0}"/>
              </a:ext>
            </a:extLst>
          </p:cNvPr>
          <p:cNvSpPr txBox="1"/>
          <p:nvPr/>
        </p:nvSpPr>
        <p:spPr>
          <a:xfrm>
            <a:off x="9844088" y="3954670"/>
            <a:ext cx="9087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/>
              <a:t>Reward</a:t>
            </a:r>
            <a:endParaRPr lang="es-ES"/>
          </a:p>
          <a:p>
            <a:pPr algn="ctr"/>
            <a:r>
              <a:rPr lang="es-ES" sz="1600"/>
              <a:t>6</a:t>
            </a:r>
            <a:endParaRPr lang="es-ES" sz="1600" dirty="0"/>
          </a:p>
        </p:txBody>
      </p:sp>
      <p:pic>
        <p:nvPicPr>
          <p:cNvPr id="35" name="Imagen 3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9781705E-457A-8C5D-16A0-BCFCF67403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9295" y="5198592"/>
            <a:ext cx="1988374" cy="1324446"/>
          </a:xfrm>
          <a:prstGeom prst="rect">
            <a:avLst/>
          </a:prstGeom>
        </p:spPr>
      </p:pic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E3EF018D-7C62-5A83-9829-169ED95C499D}"/>
              </a:ext>
            </a:extLst>
          </p:cNvPr>
          <p:cNvSpPr/>
          <p:nvPr/>
        </p:nvSpPr>
        <p:spPr>
          <a:xfrm>
            <a:off x="10656429" y="4129216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28D1601-C08F-7C30-CD05-74CBA626FCAD}"/>
              </a:ext>
            </a:extLst>
          </p:cNvPr>
          <p:cNvSpPr txBox="1"/>
          <p:nvPr/>
        </p:nvSpPr>
        <p:spPr>
          <a:xfrm>
            <a:off x="4210704" y="482752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u="sng"/>
              <a:t>Day 1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C596936-560E-19B9-0B12-AF1C3569B209}"/>
              </a:ext>
            </a:extLst>
          </p:cNvPr>
          <p:cNvSpPr txBox="1"/>
          <p:nvPr/>
        </p:nvSpPr>
        <p:spPr>
          <a:xfrm>
            <a:off x="11020014" y="3954669"/>
            <a:ext cx="10874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400" dirty="0" err="1"/>
              <a:t>Update</a:t>
            </a:r>
            <a:r>
              <a:rPr lang="es-ES" sz="1400" dirty="0"/>
              <a:t> </a:t>
            </a:r>
            <a:r>
              <a:rPr lang="es-ES" sz="1400" dirty="0" err="1"/>
              <a:t>posteriors</a:t>
            </a:r>
            <a:endParaRPr lang="es-ES" sz="1400"/>
          </a:p>
        </p:txBody>
      </p:sp>
      <p:sp>
        <p:nvSpPr>
          <p:cNvPr id="39" name="Flecha: a la derecha 38">
            <a:extLst>
              <a:ext uri="{FF2B5EF4-FFF2-40B4-BE49-F238E27FC236}">
                <a16:creationId xmlns:a16="http://schemas.microsoft.com/office/drawing/2014/main" id="{6B083990-7271-D654-86AC-581410B11A63}"/>
              </a:ext>
            </a:extLst>
          </p:cNvPr>
          <p:cNvSpPr/>
          <p:nvPr/>
        </p:nvSpPr>
        <p:spPr>
          <a:xfrm>
            <a:off x="6093837" y="5615586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1" name="Imagen 40" descr="Texto, Carta&#10;&#10;El contenido generado por IA puede ser incorrecto.">
            <a:extLst>
              <a:ext uri="{FF2B5EF4-FFF2-40B4-BE49-F238E27FC236}">
                <a16:creationId xmlns:a16="http://schemas.microsoft.com/office/drawing/2014/main" id="{04B267AB-6061-A506-C522-0DD7B3E4E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214" y="5195240"/>
            <a:ext cx="1664758" cy="1077149"/>
          </a:xfrm>
          <a:prstGeom prst="rect">
            <a:avLst/>
          </a:prstGeom>
        </p:spPr>
      </p:pic>
      <p:sp>
        <p:nvSpPr>
          <p:cNvPr id="42" name="Flecha: a la derecha 41">
            <a:extLst>
              <a:ext uri="{FF2B5EF4-FFF2-40B4-BE49-F238E27FC236}">
                <a16:creationId xmlns:a16="http://schemas.microsoft.com/office/drawing/2014/main" id="{BE91D263-3E92-8745-AA45-D62CD25BDE6B}"/>
              </a:ext>
            </a:extLst>
          </p:cNvPr>
          <p:cNvSpPr/>
          <p:nvPr/>
        </p:nvSpPr>
        <p:spPr>
          <a:xfrm>
            <a:off x="8050578" y="5615586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04FB8CB-C863-CE5F-96C4-EFB7A9B1999C}"/>
              </a:ext>
            </a:extLst>
          </p:cNvPr>
          <p:cNvSpPr txBox="1"/>
          <p:nvPr/>
        </p:nvSpPr>
        <p:spPr>
          <a:xfrm>
            <a:off x="8430180" y="5299675"/>
            <a:ext cx="13038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 u="sng" dirty="0" err="1"/>
              <a:t>Action</a:t>
            </a:r>
            <a:endParaRPr lang="es-ES" sz="1600" u="sng"/>
          </a:p>
          <a:p>
            <a:pPr algn="ctr"/>
            <a:r>
              <a:rPr lang="es-ES" sz="1600" dirty="0" err="1"/>
              <a:t>Bayesian</a:t>
            </a:r>
          </a:p>
          <a:p>
            <a:pPr algn="ctr"/>
            <a:r>
              <a:rPr lang="es-ES" sz="1600" dirty="0" err="1"/>
              <a:t>class</a:t>
            </a:r>
            <a:endParaRPr lang="es-ES" sz="1600"/>
          </a:p>
        </p:txBody>
      </p: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74DCA566-A429-5082-EF55-2928B49BBD66}"/>
              </a:ext>
            </a:extLst>
          </p:cNvPr>
          <p:cNvSpPr/>
          <p:nvPr/>
        </p:nvSpPr>
        <p:spPr>
          <a:xfrm rot="-1800000">
            <a:off x="9461689" y="5173438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F26A76D-7A94-79E9-9480-5A56A7F21E1D}"/>
              </a:ext>
            </a:extLst>
          </p:cNvPr>
          <p:cNvSpPr txBox="1"/>
          <p:nvPr/>
        </p:nvSpPr>
        <p:spPr>
          <a:xfrm>
            <a:off x="9797051" y="4923632"/>
            <a:ext cx="111571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600"/>
              <a:t>Reward 7</a:t>
            </a:r>
            <a:endParaRPr lang="es-ES"/>
          </a:p>
        </p:txBody>
      </p:sp>
      <p:pic>
        <p:nvPicPr>
          <p:cNvPr id="46" name="Imagen 45" descr="Gráfico&#10;&#10;El contenido generado por IA puede ser incorrecto.">
            <a:extLst>
              <a:ext uri="{FF2B5EF4-FFF2-40B4-BE49-F238E27FC236}">
                <a16:creationId xmlns:a16="http://schemas.microsoft.com/office/drawing/2014/main" id="{429A2EBD-07C4-37D1-5096-4732110EFF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0777" y="5433778"/>
            <a:ext cx="2073041" cy="1324446"/>
          </a:xfrm>
          <a:prstGeom prst="rect">
            <a:avLst/>
          </a:prstGeom>
        </p:spPr>
      </p:pic>
      <p:sp>
        <p:nvSpPr>
          <p:cNvPr id="47" name="Flecha: a la derecha 46">
            <a:extLst>
              <a:ext uri="{FF2B5EF4-FFF2-40B4-BE49-F238E27FC236}">
                <a16:creationId xmlns:a16="http://schemas.microsoft.com/office/drawing/2014/main" id="{C7E054AC-47AC-C280-FDEC-D791B81ED84B}"/>
              </a:ext>
            </a:extLst>
          </p:cNvPr>
          <p:cNvSpPr/>
          <p:nvPr/>
        </p:nvSpPr>
        <p:spPr>
          <a:xfrm rot="2700000">
            <a:off x="10825763" y="5182845"/>
            <a:ext cx="391297" cy="1956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268D491-8759-4F1F-7E6F-817579757733}"/>
              </a:ext>
            </a:extLst>
          </p:cNvPr>
          <p:cNvSpPr/>
          <p:nvPr/>
        </p:nvSpPr>
        <p:spPr>
          <a:xfrm>
            <a:off x="-4428" y="4551123"/>
            <a:ext cx="1866110" cy="10797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/>
              <a:t>2.Frequentist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567D58D-8A73-2651-69A4-C3FEC2110F4B}"/>
              </a:ext>
            </a:extLst>
          </p:cNvPr>
          <p:cNvSpPr/>
          <p:nvPr/>
        </p:nvSpPr>
        <p:spPr>
          <a:xfrm>
            <a:off x="-4427" y="3055780"/>
            <a:ext cx="1866109" cy="10797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/>
              <a:t>1.Bayesian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423207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F6291-C769-3E74-5175-3AEDFF39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5" y="251855"/>
            <a:ext cx="10515600" cy="1325563"/>
          </a:xfrm>
        </p:spPr>
        <p:txBody>
          <a:bodyPr/>
          <a:lstStyle/>
          <a:p>
            <a:r>
              <a:rPr lang="es-ES" dirty="0" err="1"/>
              <a:t>Introduction</a:t>
            </a:r>
            <a:r>
              <a:rPr lang="es-ES" dirty="0"/>
              <a:t>: Thompson </a:t>
            </a:r>
            <a:r>
              <a:rPr lang="es-ES" dirty="0" err="1"/>
              <a:t>Sampling</a:t>
            </a:r>
          </a:p>
        </p:txBody>
      </p:sp>
      <p:pic>
        <p:nvPicPr>
          <p:cNvPr id="7" name="Marcador de contenido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29BD0F1-CACC-7B5C-AAA8-AAC93BE6E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513" y="2159295"/>
            <a:ext cx="6096000" cy="399291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DB0AD00-2047-4461-2225-5C4406322C7F}"/>
              </a:ext>
            </a:extLst>
          </p:cNvPr>
          <p:cNvSpPr txBox="1"/>
          <p:nvPr/>
        </p:nvSpPr>
        <p:spPr>
          <a:xfrm>
            <a:off x="710513" y="1688756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After  a </a:t>
            </a:r>
            <a:r>
              <a:rPr lang="es-ES" dirty="0" err="1"/>
              <a:t>few</a:t>
            </a:r>
            <a:r>
              <a:rPr lang="es-ES" dirty="0"/>
              <a:t> </a:t>
            </a:r>
            <a:r>
              <a:rPr lang="es-ES" dirty="0" err="1"/>
              <a:t>iterations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EF662B-9A63-27B0-D406-25F38E720289}"/>
              </a:ext>
            </a:extLst>
          </p:cNvPr>
          <p:cNvSpPr txBox="1"/>
          <p:nvPr/>
        </p:nvSpPr>
        <p:spPr>
          <a:xfrm>
            <a:off x="7599405" y="2162432"/>
            <a:ext cx="274319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dirty="0"/>
              <a:t>Very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pick </a:t>
            </a:r>
            <a:r>
              <a:rPr lang="es-ES" dirty="0" err="1"/>
              <a:t>Bayesian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(red)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day</a:t>
            </a:r>
            <a:endParaRPr lang="es-ES" dirty="0"/>
          </a:p>
          <a:p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dirty="0"/>
              <a:t>Posterior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Bayesian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mean, </a:t>
            </a:r>
            <a:r>
              <a:rPr lang="es-ES" dirty="0" err="1"/>
              <a:t>will</a:t>
            </a:r>
            <a:r>
              <a:rPr lang="es-ES" dirty="0"/>
              <a:t> </a:t>
            </a:r>
            <a:r>
              <a:rPr lang="es-ES" dirty="0" err="1"/>
              <a:t>get</a:t>
            </a:r>
            <a:r>
              <a:rPr lang="es-ES" dirty="0"/>
              <a:t> more and more </a:t>
            </a:r>
            <a:r>
              <a:rPr lang="es-ES" dirty="0" err="1"/>
              <a:t>peaked</a:t>
            </a:r>
            <a:r>
              <a:rPr lang="es-ES" dirty="0"/>
              <a:t>.</a:t>
            </a:r>
          </a:p>
          <a:p>
            <a:pPr marL="285750" indent="-285750">
              <a:buFont typeface="Calibri"/>
              <a:buChar char="-"/>
            </a:pPr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dirty="0"/>
              <a:t>Hence, </a:t>
            </a:r>
            <a:r>
              <a:rPr lang="es-ES" dirty="0" err="1"/>
              <a:t>finding</a:t>
            </a:r>
            <a:r>
              <a:rPr lang="es-ES" dirty="0"/>
              <a:t> </a:t>
            </a:r>
            <a:r>
              <a:rPr lang="es-ES" dirty="0" err="1"/>
              <a:t>Bayesian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was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correct</a:t>
            </a:r>
            <a:r>
              <a:rPr lang="es-ES" dirty="0"/>
              <a:t> </a:t>
            </a:r>
            <a:r>
              <a:rPr lang="es-ES" dirty="0" err="1"/>
              <a:t>answer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1553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2E562-1D14-A402-4BA8-0DD8DD61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76" y="63198"/>
            <a:ext cx="10515600" cy="1325563"/>
          </a:xfrm>
        </p:spPr>
        <p:txBody>
          <a:bodyPr/>
          <a:lstStyle/>
          <a:p>
            <a:r>
              <a:rPr lang="es-ES" dirty="0"/>
              <a:t>Project: Thompson Sampling </a:t>
            </a:r>
            <a:r>
              <a:rPr lang="es-ES" dirty="0" err="1"/>
              <a:t>for</a:t>
            </a:r>
            <a:r>
              <a:rPr lang="es-ES" dirty="0"/>
              <a:t> Route Choice</a:t>
            </a:r>
          </a:p>
        </p:txBody>
      </p:sp>
      <p:pic>
        <p:nvPicPr>
          <p:cNvPr id="4" name="Imagen 3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29461A1A-CB58-A7FE-7B3D-EF7454C8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" t="27229" r="16523" b="-766"/>
          <a:stretch>
            <a:fillRect/>
          </a:stretch>
        </p:blipFill>
        <p:spPr>
          <a:xfrm>
            <a:off x="4026371" y="1396302"/>
            <a:ext cx="5288538" cy="210859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D692877-4298-B637-D34A-E768F9BD82C5}"/>
              </a:ext>
            </a:extLst>
          </p:cNvPr>
          <p:cNvSpPr txBox="1"/>
          <p:nvPr/>
        </p:nvSpPr>
        <p:spPr>
          <a:xfrm>
            <a:off x="635254" y="2173620"/>
            <a:ext cx="32041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Software: SUMO </a:t>
            </a:r>
            <a:r>
              <a:rPr lang="es-ES" b="1" dirty="0" err="1"/>
              <a:t>simulator</a:t>
            </a:r>
            <a:endParaRPr lang="es-ES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CF235B-194B-3688-9E35-144DC19A5160}"/>
              </a:ext>
            </a:extLst>
          </p:cNvPr>
          <p:cNvSpPr txBox="1"/>
          <p:nvPr/>
        </p:nvSpPr>
        <p:spPr>
          <a:xfrm>
            <a:off x="632330" y="3426711"/>
            <a:ext cx="690178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Actions</a:t>
            </a:r>
            <a:r>
              <a:rPr lang="es-E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: </a:t>
            </a:r>
            <a:r>
              <a:rPr lang="es-ES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Routes</a:t>
            </a:r>
            <a:endParaRPr lang="es-ES" sz="1800" b="0" i="0" u="none" strike="noStrike" baseline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endParaRPr lang="es-ES" dirty="0">
              <a:cs typeface="Arial"/>
            </a:endParaRPr>
          </a:p>
          <a:p>
            <a:r>
              <a:rPr lang="es-ES" b="1"/>
              <a:t>Reward</a:t>
            </a:r>
            <a:r>
              <a:rPr lang="es-ES"/>
              <a:t>: Negative Travel Time</a:t>
            </a:r>
          </a:p>
          <a:p>
            <a:endParaRPr lang="es-ES" dirty="0"/>
          </a:p>
          <a:p>
            <a:r>
              <a:rPr lang="es-ES" b="1" dirty="0" err="1"/>
              <a:t>Goal</a:t>
            </a:r>
            <a:r>
              <a:rPr lang="es-ES" dirty="0"/>
              <a:t>: 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Learn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which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route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is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the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shortest</a:t>
            </a:r>
            <a:r>
              <a:rPr lang="es-ES" dirty="0">
                <a:ea typeface="+mn-lt"/>
                <a:cs typeface="+mn-lt"/>
              </a:rPr>
              <a:t> (has </a:t>
            </a:r>
            <a:r>
              <a:rPr lang="es-ES" dirty="0" err="1">
                <a:ea typeface="+mn-lt"/>
                <a:cs typeface="+mn-lt"/>
              </a:rPr>
              <a:t>the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higher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expected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reward</a:t>
            </a:r>
            <a:r>
              <a:rPr lang="es-ES" dirty="0">
                <a:ea typeface="+mn-lt"/>
                <a:cs typeface="+mn-lt"/>
              </a:rPr>
              <a:t>)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balancing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exploration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/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explotation</a:t>
            </a:r>
            <a:r>
              <a:rPr lang="es-E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s-ES" dirty="0" err="1">
                <a:solidFill>
                  <a:srgbClr val="000000"/>
                </a:solidFill>
                <a:ea typeface="+mn-lt"/>
                <a:cs typeface="+mn-lt"/>
              </a:rPr>
              <a:t>through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Thompson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Sampling</a:t>
            </a:r>
            <a:r>
              <a:rPr lang="es-ES" dirty="0">
                <a:ea typeface="+mn-lt"/>
                <a:cs typeface="+mn-lt"/>
              </a:rPr>
              <a:t>.</a:t>
            </a:r>
          </a:p>
          <a:p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Data: </a:t>
            </a:r>
            <a:r>
              <a:rPr lang="es-ES" dirty="0">
                <a:ea typeface="+mn-lt"/>
                <a:cs typeface="+mn-lt"/>
              </a:rPr>
              <a:t>Travel times </a:t>
            </a:r>
            <a:r>
              <a:rPr lang="es-ES" dirty="0" err="1">
                <a:ea typeface="+mn-lt"/>
                <a:cs typeface="+mn-lt"/>
              </a:rPr>
              <a:t>of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vehicle's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agent</a:t>
            </a:r>
            <a:r>
              <a:rPr lang="es-ES" dirty="0">
                <a:ea typeface="+mn-lt"/>
                <a:cs typeface="+mn-lt"/>
              </a:rPr>
              <a:t> (</a:t>
            </a:r>
            <a:r>
              <a:rPr lang="es-ES" dirty="0" err="1">
                <a:ea typeface="+mn-lt"/>
                <a:cs typeface="+mn-lt"/>
              </a:rPr>
              <a:t>generated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using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the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simulator</a:t>
            </a:r>
            <a:r>
              <a:rPr lang="es-ES" dirty="0">
                <a:ea typeface="+mn-lt"/>
                <a:cs typeface="+mn-lt"/>
              </a:rPr>
              <a:t>)</a:t>
            </a:r>
          </a:p>
          <a:p>
            <a:endParaRPr lang="es-ES" dirty="0">
              <a:ea typeface="+mn-lt"/>
              <a:cs typeface="+mn-lt"/>
            </a:endParaRPr>
          </a:p>
          <a:p>
            <a:r>
              <a:rPr lang="es-ES" b="1" dirty="0" err="1">
                <a:ea typeface="+mn-lt"/>
                <a:cs typeface="+mn-lt"/>
              </a:rPr>
              <a:t>Evaluation</a:t>
            </a:r>
            <a:r>
              <a:rPr lang="es-ES" b="1" dirty="0">
                <a:ea typeface="+mn-lt"/>
                <a:cs typeface="+mn-lt"/>
              </a:rPr>
              <a:t> </a:t>
            </a:r>
            <a:r>
              <a:rPr lang="es-ES" b="1" dirty="0" err="1">
                <a:ea typeface="+mn-lt"/>
                <a:cs typeface="+mn-lt"/>
              </a:rPr>
              <a:t>metric</a:t>
            </a:r>
            <a:r>
              <a:rPr lang="es-ES" dirty="0">
                <a:ea typeface="+mn-lt"/>
                <a:cs typeface="+mn-lt"/>
              </a:rPr>
              <a:t>: </a:t>
            </a:r>
            <a:r>
              <a:rPr lang="es-ES" b="1" dirty="0" err="1">
                <a:solidFill>
                  <a:srgbClr val="FF0000"/>
                </a:solidFill>
                <a:ea typeface="+mn-lt"/>
                <a:cs typeface="+mn-lt"/>
              </a:rPr>
              <a:t>Regret</a:t>
            </a:r>
            <a:r>
              <a:rPr lang="es-E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s-ES" dirty="0">
                <a:ea typeface="+mn-lt"/>
                <a:cs typeface="+mn-lt"/>
              </a:rPr>
              <a:t>(compares </a:t>
            </a:r>
            <a:r>
              <a:rPr lang="es-ES" dirty="0" err="1">
                <a:ea typeface="+mn-lt"/>
                <a:cs typeface="+mn-lt"/>
              </a:rPr>
              <a:t>avg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reward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under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optimal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strategy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with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avg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reward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with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our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strategy</a:t>
            </a:r>
            <a:r>
              <a:rPr lang="es-ES" dirty="0">
                <a:ea typeface="+mn-lt"/>
                <a:cs typeface="+mn-lt"/>
              </a:rPr>
              <a:t>)</a:t>
            </a:r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CEC2E8-D225-69A3-5349-52CA6D874F23}"/>
              </a:ext>
            </a:extLst>
          </p:cNvPr>
          <p:cNvSpPr txBox="1"/>
          <p:nvPr/>
        </p:nvSpPr>
        <p:spPr>
          <a:xfrm>
            <a:off x="8155459" y="3799702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u="sng" dirty="0" err="1"/>
              <a:t>Intuition</a:t>
            </a:r>
            <a:r>
              <a:rPr lang="es-ES" b="1" u="sng" dirty="0"/>
              <a:t> Reward: </a:t>
            </a:r>
          </a:p>
          <a:p>
            <a:endParaRPr lang="es-ES" u="sng" dirty="0"/>
          </a:p>
          <a:p>
            <a:r>
              <a:rPr lang="es-ES"/>
              <a:t>Route A = 20 min</a:t>
            </a:r>
          </a:p>
          <a:p>
            <a:r>
              <a:rPr lang="es-ES" b="1"/>
              <a:t>Route B = 10 min</a:t>
            </a:r>
          </a:p>
          <a:p>
            <a:endParaRPr lang="es-ES" dirty="0"/>
          </a:p>
          <a:p>
            <a:r>
              <a:rPr lang="es-ES"/>
              <a:t>Reward A = -20</a:t>
            </a:r>
          </a:p>
          <a:p>
            <a:r>
              <a:rPr lang="es-ES" b="1"/>
              <a:t>Reward B = -10</a:t>
            </a:r>
            <a:endParaRPr lang="es-ES" b="1" dirty="0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C7D6669B-4786-6B3B-E7EB-5BBDF9A4B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923" y="1062331"/>
            <a:ext cx="2751785" cy="259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3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136AA-F414-9BD8-3466-7C603753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49" y="251855"/>
            <a:ext cx="10515600" cy="1325563"/>
          </a:xfrm>
        </p:spPr>
        <p:txBody>
          <a:bodyPr/>
          <a:lstStyle/>
          <a:p>
            <a:r>
              <a:rPr lang="es-ES" dirty="0"/>
              <a:t>Project: Thompson Sampling </a:t>
            </a:r>
            <a:r>
              <a:rPr lang="es-ES" dirty="0" err="1"/>
              <a:t>for</a:t>
            </a:r>
            <a:r>
              <a:rPr lang="es-ES" dirty="0"/>
              <a:t> Route Choice</a:t>
            </a:r>
          </a:p>
        </p:txBody>
      </p:sp>
      <p:sp>
        <p:nvSpPr>
          <p:cNvPr id="4" name="CuadroTexto 9">
            <a:extLst>
              <a:ext uri="{FF2B5EF4-FFF2-40B4-BE49-F238E27FC236}">
                <a16:creationId xmlns:a16="http://schemas.microsoft.com/office/drawing/2014/main" id="{882CC118-B6F5-D272-0E3D-BFB6B17C3686}"/>
              </a:ext>
            </a:extLst>
          </p:cNvPr>
          <p:cNvSpPr txBox="1"/>
          <p:nvPr/>
        </p:nvSpPr>
        <p:spPr>
          <a:xfrm>
            <a:off x="654705" y="1577138"/>
            <a:ext cx="6358186" cy="28623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u="sng" dirty="0"/>
              <a:t>1st </a:t>
            </a:r>
            <a:r>
              <a:rPr lang="es-ES" b="1" u="sng" dirty="0" err="1"/>
              <a:t>scenario</a:t>
            </a:r>
            <a:endParaRPr lang="es-ES" b="1" u="sng"/>
          </a:p>
          <a:p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b="1" dirty="0"/>
              <a:t>Hidden </a:t>
            </a:r>
            <a:r>
              <a:rPr lang="es-ES" b="1" err="1"/>
              <a:t>reward</a:t>
            </a:r>
            <a:r>
              <a:rPr lang="es-ES" b="1" dirty="0"/>
              <a:t> </a:t>
            </a:r>
            <a:r>
              <a:rPr lang="es-ES" b="1" err="1"/>
              <a:t>distributions</a:t>
            </a:r>
            <a:r>
              <a:rPr lang="es-ES" b="1" dirty="0"/>
              <a:t> are </a:t>
            </a:r>
            <a:r>
              <a:rPr lang="es-ES" b="1" err="1">
                <a:solidFill>
                  <a:srgbClr val="FF0000"/>
                </a:solidFill>
              </a:rPr>
              <a:t>known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endParaRPr lang="es-ES" b="1" dirty="0"/>
          </a:p>
          <a:p>
            <a:pPr marL="285750" indent="-285750">
              <a:buFont typeface="Calibri"/>
              <a:buChar char="-"/>
            </a:pPr>
            <a:endParaRPr lang="es-ES" b="1" dirty="0">
              <a:solidFill>
                <a:srgbClr val="FF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s-ES" dirty="0" err="1"/>
              <a:t>Only</a:t>
            </a:r>
            <a:r>
              <a:rPr lang="es-ES" dirty="0"/>
              <a:t> </a:t>
            </a:r>
            <a:r>
              <a:rPr lang="es-ES" b="1" dirty="0" err="1"/>
              <a:t>one</a:t>
            </a:r>
            <a:r>
              <a:rPr lang="es-ES" b="1" dirty="0"/>
              <a:t> </a:t>
            </a:r>
            <a:r>
              <a:rPr lang="es-ES" b="1" dirty="0" err="1"/>
              <a:t>vehicle</a:t>
            </a:r>
            <a:r>
              <a:rPr lang="es-ES" b="1" dirty="0"/>
              <a:t> (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agent</a:t>
            </a:r>
            <a:r>
              <a:rPr lang="es-ES" b="1" dirty="0"/>
              <a:t>)</a:t>
            </a:r>
          </a:p>
          <a:p>
            <a:pPr marL="285750" indent="-285750">
              <a:buFont typeface="Calibri"/>
              <a:buChar char="-"/>
            </a:pPr>
            <a:endParaRPr lang="es-ES" b="1" dirty="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s-ES" b="1" dirty="0">
                <a:solidFill>
                  <a:srgbClr val="000000"/>
                </a:solidFill>
              </a:rPr>
              <a:t>Beta-Bernoulli </a:t>
            </a:r>
            <a:r>
              <a:rPr lang="es-ES" b="1" dirty="0" err="1">
                <a:solidFill>
                  <a:srgbClr val="000000"/>
                </a:solidFill>
              </a:rPr>
              <a:t>conjugate</a:t>
            </a:r>
            <a:r>
              <a:rPr lang="es-ES" b="1" dirty="0">
                <a:solidFill>
                  <a:srgbClr val="000000"/>
                </a:solidFill>
              </a:rPr>
              <a:t> </a:t>
            </a:r>
            <a:r>
              <a:rPr lang="es-ES" b="1" dirty="0" err="1">
                <a:solidFill>
                  <a:srgbClr val="000000"/>
                </a:solidFill>
              </a:rPr>
              <a:t>model</a:t>
            </a:r>
            <a:r>
              <a:rPr lang="es-ES" b="1" dirty="0">
                <a:solidFill>
                  <a:srgbClr val="000000"/>
                </a:solidFill>
              </a:rPr>
              <a:t> </a:t>
            </a:r>
            <a:r>
              <a:rPr lang="es-ES" dirty="0">
                <a:solidFill>
                  <a:srgbClr val="000000"/>
                </a:solidFill>
              </a:rPr>
              <a:t>(</a:t>
            </a:r>
            <a:r>
              <a:rPr lang="es-ES" dirty="0" err="1">
                <a:solidFill>
                  <a:srgbClr val="000000"/>
                </a:solidFill>
              </a:rPr>
              <a:t>each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route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will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have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two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possible</a:t>
            </a:r>
            <a:r>
              <a:rPr lang="es-ES" dirty="0">
                <a:solidFill>
                  <a:srgbClr val="000000"/>
                </a:solidFill>
              </a:rPr>
              <a:t> </a:t>
            </a:r>
            <a:r>
              <a:rPr lang="es-ES" dirty="0" err="1">
                <a:solidFill>
                  <a:srgbClr val="000000"/>
                </a:solidFill>
              </a:rPr>
              <a:t>travel</a:t>
            </a:r>
            <a:r>
              <a:rPr lang="es-ES" dirty="0">
                <a:solidFill>
                  <a:srgbClr val="000000"/>
                </a:solidFill>
              </a:rPr>
              <a:t> times). </a:t>
            </a:r>
            <a:r>
              <a:rPr lang="es-ES" b="1" dirty="0">
                <a:solidFill>
                  <a:srgbClr val="FF0000"/>
                </a:solidFill>
              </a:rPr>
              <a:t>Discrete Travel Times.</a:t>
            </a:r>
          </a:p>
          <a:p>
            <a:pPr marL="285750" indent="-285750">
              <a:buFont typeface="Calibri"/>
              <a:buChar char="-"/>
            </a:pPr>
            <a:endParaRPr lang="es-ES" b="1" dirty="0">
              <a:solidFill>
                <a:srgbClr val="FF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s-ES" dirty="0"/>
              <a:t>Logic: Very similar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example</a:t>
            </a:r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985C720-18AF-91F6-8E7E-FA4BD502BDA5}"/>
              </a:ext>
            </a:extLst>
          </p:cNvPr>
          <p:cNvSpPr/>
          <p:nvPr/>
        </p:nvSpPr>
        <p:spPr>
          <a:xfrm>
            <a:off x="9260285" y="1717439"/>
            <a:ext cx="1668554" cy="10797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/>
              <a:t>Route A</a:t>
            </a:r>
            <a:endParaRPr lang="es-ES" sz="1600"/>
          </a:p>
        </p:txBody>
      </p:sp>
      <p:pic>
        <p:nvPicPr>
          <p:cNvPr id="14" name="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42B76E9E-BCBC-50F2-5862-31E66605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41" y="4601748"/>
            <a:ext cx="6533562" cy="979428"/>
          </a:xfrm>
          <a:prstGeom prst="rect">
            <a:avLst/>
          </a:prstGeom>
        </p:spPr>
      </p:pic>
      <p:pic>
        <p:nvPicPr>
          <p:cNvPr id="9" name="Imagen 8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FCD537C-556D-6617-CD5C-E111C841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828" y="3228884"/>
            <a:ext cx="1584385" cy="2355550"/>
          </a:xfrm>
          <a:prstGeom prst="rect">
            <a:avLst/>
          </a:prstGeom>
        </p:spPr>
      </p:pic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CCCC5A4E-CFF3-432E-B831-BA9E27E4C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0" b="1648"/>
          <a:stretch>
            <a:fillRect/>
          </a:stretch>
        </p:blipFill>
        <p:spPr>
          <a:xfrm>
            <a:off x="10449285" y="3105149"/>
            <a:ext cx="1602197" cy="2344456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0F1CD6E-F6A1-360E-3C6F-A8B8020637AA}"/>
              </a:ext>
            </a:extLst>
          </p:cNvPr>
          <p:cNvSpPr/>
          <p:nvPr/>
        </p:nvSpPr>
        <p:spPr>
          <a:xfrm>
            <a:off x="9847385" y="4132495"/>
            <a:ext cx="492369" cy="13802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9EA26B-F17C-5280-ACA3-51A9011BCAF3}"/>
              </a:ext>
            </a:extLst>
          </p:cNvPr>
          <p:cNvSpPr txBox="1"/>
          <p:nvPr/>
        </p:nvSpPr>
        <p:spPr>
          <a:xfrm>
            <a:off x="8670211" y="5570231"/>
            <a:ext cx="4140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X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A4DE94-02F3-7032-E8AB-4877047D5147}"/>
              </a:ext>
            </a:extLst>
          </p:cNvPr>
          <p:cNvSpPr txBox="1"/>
          <p:nvPr/>
        </p:nvSpPr>
        <p:spPr>
          <a:xfrm>
            <a:off x="10600979" y="5575982"/>
            <a:ext cx="1593012" cy="3801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/>
              <a:t>T (travel time)</a:t>
            </a:r>
          </a:p>
        </p:txBody>
      </p:sp>
    </p:spTree>
    <p:extLst>
      <p:ext uri="{BB962C8B-B14F-4D97-AF65-F5344CB8AC3E}">
        <p14:creationId xmlns:p14="http://schemas.microsoft.com/office/powerpoint/2010/main" val="374851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01EF6-E68E-361A-77C2-AB8CDC98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4719"/>
            <a:ext cx="8651789" cy="1407941"/>
          </a:xfrm>
        </p:spPr>
        <p:txBody>
          <a:bodyPr/>
          <a:lstStyle/>
          <a:p>
            <a:r>
              <a:rPr lang="es-ES" sz="3200" dirty="0"/>
              <a:t>Project: Thompson Sampling </a:t>
            </a:r>
            <a:r>
              <a:rPr lang="es-ES" sz="3200" dirty="0" err="1"/>
              <a:t>for</a:t>
            </a:r>
            <a:r>
              <a:rPr lang="es-ES" sz="3200" dirty="0"/>
              <a:t> Route Choice</a:t>
            </a:r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562721ED-ECED-AD2A-E296-A9DC6651A481}"/>
              </a:ext>
            </a:extLst>
          </p:cNvPr>
          <p:cNvSpPr txBox="1"/>
          <p:nvPr/>
        </p:nvSpPr>
        <p:spPr>
          <a:xfrm>
            <a:off x="444819" y="990192"/>
            <a:ext cx="10667538" cy="729430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u="sng" dirty="0"/>
              <a:t>2nd </a:t>
            </a:r>
            <a:r>
              <a:rPr lang="es-ES" b="1" u="sng" dirty="0" err="1"/>
              <a:t>scenario</a:t>
            </a:r>
            <a:endParaRPr lang="es-ES" b="1" u="sng"/>
          </a:p>
          <a:p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b="1" dirty="0"/>
              <a:t>Hidden </a:t>
            </a:r>
            <a:r>
              <a:rPr lang="es-ES" b="1" dirty="0" err="1"/>
              <a:t>reward</a:t>
            </a:r>
            <a:r>
              <a:rPr lang="es-ES" b="1" dirty="0"/>
              <a:t> </a:t>
            </a:r>
            <a:r>
              <a:rPr lang="es-ES" b="1" dirty="0" err="1"/>
              <a:t>distributions</a:t>
            </a:r>
            <a:r>
              <a:rPr lang="es-ES" b="1" dirty="0"/>
              <a:t> are </a:t>
            </a:r>
            <a:r>
              <a:rPr lang="es-ES" b="1" dirty="0" err="1">
                <a:solidFill>
                  <a:srgbClr val="FF0000"/>
                </a:solidFill>
              </a:rPr>
              <a:t>unknown</a:t>
            </a:r>
            <a:r>
              <a:rPr lang="es-ES" b="1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s-ES" b="1" dirty="0">
              <a:solidFill>
                <a:srgbClr val="FF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s-ES" dirty="0"/>
              <a:t>They </a:t>
            </a:r>
            <a:r>
              <a:rPr lang="es-ES" dirty="0" err="1"/>
              <a:t>will</a:t>
            </a:r>
            <a:r>
              <a:rPr lang="es-ES" dirty="0"/>
              <a:t> be </a:t>
            </a:r>
            <a:r>
              <a:rPr lang="es-ES" dirty="0" err="1"/>
              <a:t>approximated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Monte Carlo </a:t>
            </a:r>
            <a:r>
              <a:rPr lang="es-ES" dirty="0" err="1"/>
              <a:t>Simulation</a:t>
            </a:r>
            <a:endParaRPr lang="es-ES" dirty="0"/>
          </a:p>
          <a:p>
            <a:pPr marL="285750" indent="-285750">
              <a:buFont typeface="Calibri"/>
              <a:buChar char="-"/>
            </a:pPr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b="1" dirty="0"/>
              <a:t>Random </a:t>
            </a:r>
            <a:r>
              <a:rPr lang="es-ES" b="1" dirty="0" err="1"/>
              <a:t>background</a:t>
            </a:r>
            <a:r>
              <a:rPr lang="es-ES" b="1" dirty="0"/>
              <a:t> </a:t>
            </a:r>
            <a:r>
              <a:rPr lang="es-ES" b="1" dirty="0" err="1"/>
              <a:t>traffic</a:t>
            </a:r>
            <a:r>
              <a:rPr lang="es-ES" b="1" dirty="0"/>
              <a:t> plus </a:t>
            </a:r>
            <a:r>
              <a:rPr lang="es-ES" b="1" dirty="0" err="1"/>
              <a:t>one</a:t>
            </a:r>
            <a:r>
              <a:rPr lang="es-ES" b="1" dirty="0"/>
              <a:t> </a:t>
            </a:r>
            <a:r>
              <a:rPr lang="es-ES" b="1" dirty="0" err="1"/>
              <a:t>agent</a:t>
            </a:r>
            <a:r>
              <a:rPr lang="es-ES" b="1" dirty="0"/>
              <a:t> </a:t>
            </a:r>
            <a:r>
              <a:rPr lang="es-ES" b="1" dirty="0" err="1"/>
              <a:t>vehicle</a:t>
            </a:r>
            <a:endParaRPr lang="es-ES" b="1" dirty="0"/>
          </a:p>
          <a:p>
            <a:pPr marL="285750" indent="-285750">
              <a:buFont typeface="Calibri"/>
              <a:buChar char="-"/>
            </a:pPr>
            <a:endParaRPr lang="es-ES" dirty="0"/>
          </a:p>
          <a:p>
            <a:pPr marL="285750" indent="-285750">
              <a:buFont typeface="Calibri"/>
              <a:buChar char="-"/>
            </a:pPr>
            <a:r>
              <a:rPr lang="es-ES" dirty="0" err="1"/>
              <a:t>Workflow</a:t>
            </a:r>
            <a:r>
              <a:rPr lang="es-ES" dirty="0"/>
              <a:t>:</a:t>
            </a:r>
          </a:p>
          <a:p>
            <a:pPr marL="285750" indent="-285750">
              <a:buFont typeface="Calibri"/>
              <a:buChar char="-"/>
            </a:pPr>
            <a:endParaRPr lang="es-ES" dirty="0"/>
          </a:p>
          <a:p>
            <a:pPr marL="742950" lvl="1" indent="-285750">
              <a:buAutoNum type="arabicPeriod"/>
            </a:pPr>
            <a:r>
              <a:rPr lang="es-ES" dirty="0" err="1"/>
              <a:t>Environment</a:t>
            </a:r>
            <a:r>
              <a:rPr lang="es-ES" dirty="0"/>
              <a:t> </a:t>
            </a:r>
            <a:r>
              <a:rPr lang="es-ES" dirty="0" err="1"/>
              <a:t>generation</a:t>
            </a:r>
            <a:r>
              <a:rPr lang="es-ES" dirty="0"/>
              <a:t> (</a:t>
            </a:r>
            <a:r>
              <a:rPr lang="es-ES" dirty="0" err="1"/>
              <a:t>random</a:t>
            </a:r>
            <a:r>
              <a:rPr lang="es-ES" dirty="0"/>
              <a:t> </a:t>
            </a:r>
            <a:r>
              <a:rPr lang="es-ES" dirty="0" err="1"/>
              <a:t>traffic</a:t>
            </a:r>
            <a:r>
              <a:rPr lang="es-ES" dirty="0"/>
              <a:t>). </a:t>
            </a:r>
            <a:r>
              <a:rPr lang="es-ES" dirty="0" err="1"/>
              <a:t>This</a:t>
            </a:r>
            <a:r>
              <a:rPr lang="es-ES" dirty="0"/>
              <a:t> induces </a:t>
            </a:r>
            <a:r>
              <a:rPr lang="es-ES" dirty="0" err="1"/>
              <a:t>unknown</a:t>
            </a:r>
            <a:r>
              <a:rPr lang="es-ES" dirty="0"/>
              <a:t> </a:t>
            </a:r>
            <a:r>
              <a:rPr lang="es-ES" dirty="0" err="1"/>
              <a:t>reward</a:t>
            </a:r>
            <a:r>
              <a:rPr lang="es-ES" dirty="0"/>
              <a:t> </a:t>
            </a:r>
            <a:r>
              <a:rPr lang="es-ES" dirty="0" err="1"/>
              <a:t>distributions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each</a:t>
            </a:r>
            <a:r>
              <a:rPr lang="es-ES" dirty="0"/>
              <a:t> </a:t>
            </a:r>
            <a:r>
              <a:rPr lang="es-ES" dirty="0" err="1"/>
              <a:t>route</a:t>
            </a:r>
            <a:r>
              <a:rPr lang="es-ES" dirty="0"/>
              <a:t>.</a:t>
            </a:r>
          </a:p>
          <a:p>
            <a:pPr marL="742950" lvl="1" indent="-285750">
              <a:buAutoNum type="arabicPeriod"/>
            </a:pPr>
            <a:endParaRPr lang="es-ES" b="1" dirty="0"/>
          </a:p>
          <a:p>
            <a:pPr marL="742950" lvl="1" indent="-285750">
              <a:buAutoNum type="arabicPeriod"/>
            </a:pPr>
            <a:r>
              <a:rPr lang="es-ES" b="1" dirty="0"/>
              <a:t>Run </a:t>
            </a:r>
            <a:r>
              <a:rPr lang="es-ES" b="1" dirty="0" err="1"/>
              <a:t>many</a:t>
            </a:r>
            <a:r>
              <a:rPr lang="es-ES" b="1" dirty="0"/>
              <a:t> </a:t>
            </a:r>
            <a:r>
              <a:rPr lang="es-ES" b="1" dirty="0" err="1"/>
              <a:t>simulations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each</a:t>
            </a:r>
            <a:r>
              <a:rPr lang="es-ES" b="1" dirty="0"/>
              <a:t> </a:t>
            </a:r>
            <a:r>
              <a:rPr lang="es-ES" b="1" dirty="0" err="1"/>
              <a:t>route</a:t>
            </a:r>
            <a:r>
              <a:rPr lang="es-ES" dirty="0"/>
              <a:t>. The </a:t>
            </a:r>
            <a:r>
              <a:rPr lang="es-ES" dirty="0" err="1"/>
              <a:t>histogram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travel</a:t>
            </a:r>
            <a:r>
              <a:rPr lang="es-ES" dirty="0"/>
              <a:t> times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b="1" dirty="0" err="1"/>
              <a:t>approximation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unknown</a:t>
            </a:r>
            <a:r>
              <a:rPr lang="es-ES" b="1" dirty="0"/>
              <a:t> </a:t>
            </a:r>
            <a:r>
              <a:rPr lang="es-ES" b="1" dirty="0" err="1"/>
              <a:t>reward</a:t>
            </a:r>
            <a:r>
              <a:rPr lang="es-ES" b="1" dirty="0"/>
              <a:t> </a:t>
            </a:r>
            <a:r>
              <a:rPr lang="es-ES" b="1" dirty="0" err="1"/>
              <a:t>distribution</a:t>
            </a:r>
            <a:r>
              <a:rPr lang="es-ES" b="1" dirty="0"/>
              <a:t>.</a:t>
            </a:r>
            <a:endParaRPr lang="es-ES" dirty="0"/>
          </a:p>
          <a:p>
            <a:pPr marL="742950" lvl="1" indent="-285750">
              <a:buAutoNum type="arabicPeriod"/>
            </a:pPr>
            <a:endParaRPr lang="es-ES" b="1" dirty="0"/>
          </a:p>
          <a:p>
            <a:pPr marL="742950" lvl="1" indent="-285750">
              <a:buAutoNum type="arabicPeriod"/>
            </a:pPr>
            <a:r>
              <a:rPr lang="es-ES" b="1" dirty="0"/>
              <a:t>Model </a:t>
            </a:r>
            <a:r>
              <a:rPr lang="es-ES" b="1" dirty="0" err="1"/>
              <a:t>validation</a:t>
            </a:r>
            <a:r>
              <a:rPr lang="es-ES" b="1" dirty="0"/>
              <a:t> </a:t>
            </a:r>
            <a:r>
              <a:rPr lang="es-ES" dirty="0"/>
              <a:t>(</a:t>
            </a:r>
            <a:r>
              <a:rPr lang="es-ES" dirty="0" err="1"/>
              <a:t>check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distributions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data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been</a:t>
            </a:r>
            <a:r>
              <a:rPr lang="es-ES" dirty="0"/>
              <a:t> </a:t>
            </a:r>
            <a:r>
              <a:rPr lang="es-ES" dirty="0" err="1"/>
              <a:t>generated</a:t>
            </a:r>
            <a:r>
              <a:rPr lang="es-ES" dirty="0"/>
              <a:t>)</a:t>
            </a:r>
          </a:p>
          <a:p>
            <a:pPr marL="742950" lvl="1" indent="-285750">
              <a:buAutoNum type="arabicPeriod"/>
            </a:pPr>
            <a:endParaRPr lang="es-ES" dirty="0"/>
          </a:p>
          <a:p>
            <a:pPr marL="742950" lvl="1" indent="-285750">
              <a:buAutoNum type="arabicPeriod"/>
            </a:pPr>
            <a:r>
              <a:rPr lang="es-ES" b="1" dirty="0" err="1"/>
              <a:t>Choose</a:t>
            </a:r>
            <a:r>
              <a:rPr lang="es-ES" b="1" dirty="0"/>
              <a:t> </a:t>
            </a:r>
            <a:r>
              <a:rPr lang="es-ES" b="1" dirty="0" err="1"/>
              <a:t>Bayesian</a:t>
            </a:r>
            <a:r>
              <a:rPr lang="es-ES" b="1" dirty="0"/>
              <a:t> Model</a:t>
            </a:r>
            <a:r>
              <a:rPr lang="es-ES" dirty="0"/>
              <a:t> (</a:t>
            </a:r>
            <a:r>
              <a:rPr lang="es-ES" dirty="0" err="1"/>
              <a:t>appropiate</a:t>
            </a:r>
            <a:r>
              <a:rPr lang="es-ES" dirty="0"/>
              <a:t> </a:t>
            </a:r>
            <a:r>
              <a:rPr lang="es-ES" dirty="0" err="1"/>
              <a:t>likelihood</a:t>
            </a:r>
            <a:r>
              <a:rPr lang="es-ES" dirty="0"/>
              <a:t> and non informative </a:t>
            </a:r>
            <a:r>
              <a:rPr lang="es-ES" dirty="0" err="1"/>
              <a:t>conjugate</a:t>
            </a:r>
            <a:r>
              <a:rPr lang="es-ES" dirty="0"/>
              <a:t> </a:t>
            </a:r>
            <a:r>
              <a:rPr lang="es-ES" dirty="0" err="1"/>
              <a:t>priors</a:t>
            </a:r>
            <a:r>
              <a:rPr lang="es-ES" dirty="0"/>
              <a:t>).   </a:t>
            </a:r>
            <a:r>
              <a:rPr lang="es-ES" b="1" dirty="0" err="1">
                <a:solidFill>
                  <a:srgbClr val="FF0000"/>
                </a:solidFill>
              </a:rPr>
              <a:t>Continous</a:t>
            </a:r>
            <a:r>
              <a:rPr lang="es-ES" b="1" dirty="0">
                <a:solidFill>
                  <a:srgbClr val="FF0000"/>
                </a:solidFill>
              </a:rPr>
              <a:t> Travel Times.</a:t>
            </a:r>
          </a:p>
          <a:p>
            <a:pPr marL="742950" lvl="1" indent="-285750">
              <a:buAutoNum type="arabicPeriod"/>
            </a:pPr>
            <a:endParaRPr lang="es-ES" u="sng" dirty="0"/>
          </a:p>
          <a:p>
            <a:pPr marL="742950" lvl="1" indent="-285750">
              <a:buAutoNum type="arabicPeriod"/>
            </a:pPr>
            <a:r>
              <a:rPr lang="es-ES" dirty="0" err="1"/>
              <a:t>Apply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</a:t>
            </a:r>
            <a:r>
              <a:rPr lang="es-ES" dirty="0" err="1"/>
              <a:t>logic</a:t>
            </a:r>
            <a:r>
              <a:rPr lang="es-ES" dirty="0"/>
              <a:t> </a:t>
            </a:r>
            <a:r>
              <a:rPr lang="es-ES" dirty="0" err="1"/>
              <a:t>than</a:t>
            </a:r>
            <a:r>
              <a:rPr lang="es-ES" dirty="0"/>
              <a:t> </a:t>
            </a:r>
            <a:r>
              <a:rPr lang="es-ES" dirty="0" err="1"/>
              <a:t>before</a:t>
            </a:r>
            <a:endParaRPr lang="es-ES" dirty="0"/>
          </a:p>
          <a:p>
            <a:pPr marL="742950" lvl="1" indent="-285750">
              <a:buAutoNum type="arabicPeriod"/>
            </a:pPr>
            <a:endParaRPr lang="es-ES" dirty="0"/>
          </a:p>
          <a:p>
            <a:pPr marL="742950" lvl="1" indent="-285750">
              <a:buAutoNum type="arabicPeriod"/>
            </a:pPr>
            <a:endParaRPr lang="es-ES" dirty="0"/>
          </a:p>
          <a:p>
            <a:pPr marL="742950" lvl="1" indent="-285750">
              <a:buAutoNum type="arabicPeriod"/>
            </a:pPr>
            <a:endParaRPr lang="es-ES" dirty="0"/>
          </a:p>
          <a:p>
            <a:pPr marL="800100" lvl="1" indent="-342900">
              <a:buAutoNum type="arabicPeriod"/>
            </a:pPr>
            <a:endParaRPr lang="es-ES" dirty="0"/>
          </a:p>
        </p:txBody>
      </p:sp>
      <p:pic>
        <p:nvPicPr>
          <p:cNvPr id="5" name="Imagen 4" descr="Model Validation. Source Bayesian Analisis Slides UPC.">
            <a:extLst>
              <a:ext uri="{FF2B5EF4-FFF2-40B4-BE49-F238E27FC236}">
                <a16:creationId xmlns:a16="http://schemas.microsoft.com/office/drawing/2014/main" id="{E024314B-24BF-645B-A1C4-0F1033440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203" y="126914"/>
            <a:ext cx="3392188" cy="154819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DEE1BCE-9A37-488C-CCDB-C6C6F90D35B9}"/>
              </a:ext>
            </a:extLst>
          </p:cNvPr>
          <p:cNvSpPr txBox="1"/>
          <p:nvPr/>
        </p:nvSpPr>
        <p:spPr>
          <a:xfrm>
            <a:off x="8835080" y="1678458"/>
            <a:ext cx="3371334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050" dirty="0">
                <a:ea typeface="+mn-lt"/>
                <a:cs typeface="+mn-lt"/>
              </a:rPr>
              <a:t>Model </a:t>
            </a:r>
            <a:r>
              <a:rPr lang="es-ES" sz="1050" dirty="0" err="1">
                <a:ea typeface="+mn-lt"/>
                <a:cs typeface="+mn-lt"/>
              </a:rPr>
              <a:t>Validation</a:t>
            </a:r>
            <a:r>
              <a:rPr lang="es-ES" sz="1050" dirty="0">
                <a:ea typeface="+mn-lt"/>
                <a:cs typeface="+mn-lt"/>
              </a:rPr>
              <a:t>. </a:t>
            </a:r>
            <a:r>
              <a:rPr lang="es-ES" sz="1050" dirty="0" err="1">
                <a:ea typeface="+mn-lt"/>
                <a:cs typeface="+mn-lt"/>
              </a:rPr>
              <a:t>Source</a:t>
            </a:r>
            <a:r>
              <a:rPr lang="es-ES" sz="1050" dirty="0">
                <a:ea typeface="+mn-lt"/>
                <a:cs typeface="+mn-lt"/>
              </a:rPr>
              <a:t> </a:t>
            </a:r>
            <a:r>
              <a:rPr lang="es-ES" sz="1050" dirty="0" err="1">
                <a:ea typeface="+mn-lt"/>
                <a:cs typeface="+mn-lt"/>
              </a:rPr>
              <a:t>Bayesian</a:t>
            </a:r>
            <a:r>
              <a:rPr lang="es-ES" sz="1050" dirty="0">
                <a:ea typeface="+mn-lt"/>
                <a:cs typeface="+mn-lt"/>
              </a:rPr>
              <a:t> </a:t>
            </a:r>
            <a:r>
              <a:rPr lang="es-ES" sz="1050" dirty="0" err="1">
                <a:ea typeface="+mn-lt"/>
                <a:cs typeface="+mn-lt"/>
              </a:rPr>
              <a:t>Analisis</a:t>
            </a:r>
            <a:r>
              <a:rPr lang="es-ES" sz="1050" dirty="0">
                <a:ea typeface="+mn-lt"/>
                <a:cs typeface="+mn-lt"/>
              </a:rPr>
              <a:t> </a:t>
            </a:r>
            <a:r>
              <a:rPr lang="es-ES" sz="1050" dirty="0" err="1">
                <a:ea typeface="+mn-lt"/>
                <a:cs typeface="+mn-lt"/>
              </a:rPr>
              <a:t>Slides</a:t>
            </a:r>
            <a:r>
              <a:rPr lang="es-ES" sz="1050" dirty="0">
                <a:ea typeface="+mn-lt"/>
                <a:cs typeface="+mn-lt"/>
              </a:rPr>
              <a:t> UPC</a:t>
            </a:r>
            <a:endParaRPr lang="es-ES" sz="1050" dirty="0"/>
          </a:p>
        </p:txBody>
      </p:sp>
      <p:pic>
        <p:nvPicPr>
          <p:cNvPr id="3" name="Imagen 2" descr="Texto, Carta&#10;&#10;El contenido generado por IA puede ser incorrecto.">
            <a:extLst>
              <a:ext uri="{FF2B5EF4-FFF2-40B4-BE49-F238E27FC236}">
                <a16:creationId xmlns:a16="http://schemas.microsoft.com/office/drawing/2014/main" id="{74F094B6-E011-CFB4-7D08-68F4F5709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473" y="5541748"/>
            <a:ext cx="3058297" cy="115999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9BDE43F-B1A9-30AA-6D20-8B90E5714707}"/>
              </a:ext>
            </a:extLst>
          </p:cNvPr>
          <p:cNvSpPr txBox="1"/>
          <p:nvPr/>
        </p:nvSpPr>
        <p:spPr>
          <a:xfrm>
            <a:off x="6744729" y="5890053"/>
            <a:ext cx="13324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>
                <a:ea typeface="+mn-lt"/>
                <a:cs typeface="+mn-lt"/>
              </a:rPr>
              <a:t>Normal-Gamma </a:t>
            </a:r>
            <a:endParaRPr lang="es-ES" sz="1200">
              <a:ea typeface="+mn-lt"/>
              <a:cs typeface="+mn-lt"/>
            </a:endParaRPr>
          </a:p>
          <a:p>
            <a:r>
              <a:rPr lang="es-ES" sz="1200" dirty="0" err="1">
                <a:ea typeface="+mn-lt"/>
                <a:cs typeface="+mn-lt"/>
              </a:rPr>
              <a:t>conjugate</a:t>
            </a:r>
            <a:r>
              <a:rPr lang="es-ES" sz="1200" dirty="0">
                <a:ea typeface="+mn-lt"/>
                <a:cs typeface="+mn-lt"/>
              </a:rPr>
              <a:t> prior</a:t>
            </a:r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978024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Bayesian Analysis Final Project</vt:lpstr>
      <vt:lpstr>Introduction: Multi-Armed Bandit Problems</vt:lpstr>
      <vt:lpstr>Introduction: Thompson Sampling</vt:lpstr>
      <vt:lpstr>Introduction: Thompson Sampling</vt:lpstr>
      <vt:lpstr>Project: Thompson Sampling for Route Choice</vt:lpstr>
      <vt:lpstr>Project: Thompson Sampling for Route Choice</vt:lpstr>
      <vt:lpstr>Project: Thompson Sampling for Route Choice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681</cp:revision>
  <dcterms:created xsi:type="dcterms:W3CDTF">2026-05-17T17:57:49Z</dcterms:created>
  <dcterms:modified xsi:type="dcterms:W3CDTF">2026-05-18T12:16:43Z</dcterms:modified>
</cp:coreProperties>
</file>